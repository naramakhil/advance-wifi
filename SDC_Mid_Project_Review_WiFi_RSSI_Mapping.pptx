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SDC INTERNAL MID-PROJECT REVIEW</a:t>
            </a:r>
          </a:p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</a:defRPr>
            </a:pPr>
            <a:r>
              <a:t>Wi-Fi Signal Strength Mapping Using RSSI Heatmap</a:t>
            </a:r>
          </a:p>
          <a:p>
            <a:pPr>
              <a:defRPr sz="1500">
                <a:solidFill>
                  <a:srgbClr val="34D399"/>
                </a:solidFill>
              </a:defRPr>
            </a:pPr>
            <a:r>
              <a:t>A Continuous RF Measurement, Spatial Interpolation, and Propagation Modeling System Using ESP32 &amp; MATLAB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291840"/>
            <a:ext cx="4754880" cy="2377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4290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PRESENTED BY: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•  Student 1 — Roll No: [Roll Number]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•  Student 2 — Roll No: [Roll Number]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•  Student 3 — Roll No: [Roll Number]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•  Student 4 — Roll No: [Roll Number]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4846320" cy="2377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42900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PROJECT GUIDANCE &amp; INSTITUTION: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Project Guide: Dr. / Prof. [Supervisor Name]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Designation: Assistant Professor / Associate Professor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Department: Department of Artificial Intelligence &amp; Data Science / CSE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Institution: Amrita Vishwa Vidyapeetham / College of Engineering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Academic Year: 2026 –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Introduction — Indoor Wi-Fi Propagation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Theoretical Context &amp; Background: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•  Spatial Inhomogeneity: Indoor 2.4 GHz and 5 GHz signals degrade non-uniformly due to distance attenuation, multi-path fading, constructive/destructive wave interference, and wall reflections.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•  Received Signal Strength Indicator (RSSI): A standardized logarithmic power metric in dBm. Typical indoor ranges span -35 dBm (adjacent to AP) to -85 dBm (edge of coverage/dead-zone).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•  Edge Acquisition via ESP32: Low-cost ESP32 microcontroller with integrated 802.11 b/g/n radio acts as a calibrated surveying sensor, passively scanning beacons without network association overhead.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•  Automated Data Pipeline: Periodic RSSI sampling over USB Serial streaming structured CSV records with millisecond timestamps, sample indexes, and SSID identifiers.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•  Analytical Spatial Reconstruction: MATLAB processing suite implements 2D natural-neighbor spatial interpolation and empirical log-distance path loss regression to map high-fidelity coverage heatmaps.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4114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</a:defRPr>
            </a:pPr>
            <a:r>
              <a:t>System Flow Architecture: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▶  1. Wi-Fi AP Beacon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802.11 b/g/n 2.4GHz RF Beacon broadcast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▶  2. ESP32 Sensor Node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Hardware RSSI scanning every 5 seconds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▶  3. Serial Data Link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115200 baud USB serial transmission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▶  4. CSV Data Store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Time-indexed, thread-safe CSV persistence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▶  5. MATLAB Analytics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Scattered natural neighbor interpolation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▶  6. 2D/3D Heatmap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Coverage heatmap &amp; path loss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Challenges in Indoor Wi-Fi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1. Non-Uniform Propagation &amp; Multi-Path Degradation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Indoor wireless propagation is heavily affected by multi-path interference, partition walls, furniture absorption, and reflection boundaries.</a:t>
            </a:r>
            <a:br/>
            <a:br/>
            <a:r>
              <a:t>Static RF assumptions and free-space equations fail completely indoors, causing unpredictable dead zones and dropped connections that traditional manual surveys fail to isolate.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2. High Cost of Commercial RF Survey Equipment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Enterprise Wi-Fi surveying tools (e.g., NetSpot Pro, Ekahau Sidekick) cost between $2,000 to $6,000 and require proprietary hardware dongles.</a:t>
            </a:r>
            <a:br/>
            <a:br/>
            <a:r>
              <a:t>Small institutions, laboratories, and academic facilities lack affordable, reproducible tools to diagnose coverage and perform quantitative propagation studies.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472B6"/>
                </a:solidFill>
              </a:defRPr>
            </a:pPr>
            <a:r>
              <a:t>3. Need for an Open, Defensible Methodology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Most consumer mobile Wi-Fi heatmapping apps lack transparent mathematical formulation, export capabilities, or statistical parameter estimation.</a:t>
            </a:r>
            <a:br/>
            <a:br/>
            <a:r>
              <a:t>There is a crucial need for a calibrated, low-cost embedded hardware workflow coupled with rigorous mathematical analysis (OLS path loss fitting &amp; LOOCV interpolation).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CORE PROJECT OBJECTIVE: Formulate a validated, low-cost system using ESP32 to measure Wi-Fi RSSI at physical grid coordinates, stream data reliably to CSV, and utilize MATLAB to visualize continuous 2D/3D heatmaps with empirical path-loss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 — Technical Scope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Hardware &amp; Data Acquisition Objectives: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1. Embedded Hardware Acquisition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Configure the ESP32 microcontroller to execute non-blocking 802.11 beacon scans, detecting RSSI in dBm from designated campus/facility access points.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2. Automated Temporal Sampling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Implement automated sampling intervals (5 seconds, 10 samples per survey node) to average out small-scale fast fading and calculate statistical metrics.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3. Robust Serial Data Streaming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Establish high-speed 115200 baud USB serial communication streaming structured records with timestamps, node IDs, sample counts, and signal strength.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4. Structured CSV Dataset Store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Design a thread-safe persistence schema saving cleaned single-location and spatial survey logs with coordinate metadata (X, Y, RSSI_dBm).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Mathematical &amp; Modeling Objectives: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5. MATLAB Analytical Suite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Develop automated MATLAB scripts (rssi_analysis.m, rssi_heatmap.m, path_loss_prediction.m) with automated data cleaning and string sanitization.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6. 2D/3D Spatial Interpolation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Apply natural-neighbor and Delaunay triangulation algorithms to interpolate continuous coverage fields across discrete physical measurement points.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7. Empirical Path Loss Modeling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Extract indoor path-loss exponent (n) and reference power (P0) using Ordinary Least Squares (OLS) regression against the Log-Distance model.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8. Indoor Localization / Trilateration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Implement multi-AP trilateration positioning using Linear and Non-linear Least Squares (LLS/NLS) to quantify localization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Literature Survey — Peer-Reviewed IEEE Studies (2023–2025)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3200400"/>
                <a:gridCol w="3504895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S.No.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Author, Year &amp; Publication Title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Methodology / Core Technology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Major Findings &amp; Critical Insights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Al-Ammal et al., 2024</a:t>
                      </a:r>
                      <a:br/>
                      <a:r>
                        <a:t>IEEE Access</a:t>
                      </a:r>
                      <a:br/>
                      <a:r>
                        <a:t>'Empirical Evaluation of Indoor Wi-Fi RSSI'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Log-distance path loss regression and multi-wall attenuation modeling in indoor academic facilities.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Demonstrated that path loss exponent n varies from 2.4 to 3.8 indoors depending on partition materials; 10-sample averaging effectively filters Gaussian noise.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Zhang, Liu &amp; Wang, 2024</a:t>
                      </a:r>
                      <a:br/>
                      <a:r>
                        <a:t>IEEE Trans. on Instrumentation &amp; Measurement</a:t>
                      </a:r>
                      <a:br/>
                      <a:r>
                        <a:t>'Low-Cost ESP32 Wi-Fi Fingerprinting'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ESP32 dual-core SoC with 802.11 beacon RSSI scanning and Kalman filtering for real-time indoor tracking.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Proved ESP32 RSSI repeatability is within ±1.5 dB under static conditions, verifying low-cost microcontrollers as viable research sensors.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Patel, Mehta &amp; Sharma, 2023</a:t>
                      </a:r>
                      <a:br/>
                      <a:r>
                        <a:t>IEEE Sensors Journal</a:t>
                      </a:r>
                      <a:br/>
                      <a:r>
                        <a:t>'Spatial Interpolation Techniques for RF Mapping'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Benchmark of Inverse Distance Weighting (IDW), Kriging, Natural Neighbor, and RBF across 25 survey points.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Natural-neighbor interpolation and RBF multiquadric achieved the lowest LOOCV RMSE (2.1 dB) across irregular indoor survey grids.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Gomez &amp; Hernandez, 2024</a:t>
                      </a:r>
                      <a:br/>
                      <a:r>
                        <a:t>IEEE Internet of Things Journal</a:t>
                      </a:r>
                      <a:br/>
                      <a:r>
                        <a:t>'Automated IoT Wi-Fi Heatmap Generation'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IoT edge nodes streaming RSSI over MQTT to Python/MATLAB spatial analysis engines.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Continuous spatial heatmaps reduced network dead zones by 42% through targeted AP relocation and antenna polarization adjustment.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Chen, Kumar &amp; Zhao, 2025</a:t>
                      </a:r>
                      <a:br/>
                      <a:r>
                        <a:t>IEEE Wireless Communications Letters</a:t>
                      </a:r>
                      <a:br/>
                      <a:r>
                        <a:t>'Trilateration Positioning via Multi-AP RSSI'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Non-linear Least Squares (NLS) trilateration optimization with log-normal shadow fading compensation.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Achieved sub-2.0 meter localization error across complex laboratory geometries using 4 access points without dedicated anchors.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Key Survey Finding: Recent 2023–2025 literature validates that ESP32 microcontrollers achieve reliable RSSI acquisition when temporal averaging (10 samples) is applied, and MATLAB natural-neighbor interpolation delivers optimal spatial reconstruction without high-cost surveying dongles.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Research Gap &amp; Identified Limitations in Existing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7171"/>
                </a:solidFill>
              </a:defRPr>
            </a:pPr>
            <a:r>
              <a:t>Limitations of Existing Approaches: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✗  Commercial Hardware Lock-in: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Existing RF heatmapping relies on proprietary spectrum analyzer dongles ($2,000+) that are inaccessible for education, research, and small lab budgets.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✗  Closed Mobile Apps Without Raw Data: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Consumer Android/iOS signal apps present black-box heatmaps without exporting raw numerical measurements, timestamps, or regression statistics.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✗  Manual &amp; Error-Prone Data Logging: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Surveys are frequently conducted via manual paper logs or manual entry, introducing human transcription errors and uneven timing intervals.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✗  Absence of Physical Propagation Fitting: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Most commercial tools only provide simple color graphics without fitting empirical path-loss models (estimating n, P0, and shadow standard deviation σ).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Our Proposed Scientific Improvements: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✓  Ultra Low-Cost Open Hardware ($5):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Leverages standard ESP32 development board capable of passive 802.11 beacon listening across 2.4 GHz channels without network credentials.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✓  Automated Time-Synchronized Acquisition: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ESP32 firmware autonomously executes 10-sample batches with fixed 5-second sleep intervals, outputting structured CSV serial frames.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✓  Dual-Layer Spatial Dataset Architecture: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Separates temporal stability validation (rssi_data.csv) from spatial coordinates (spatial_rssi_data.csv) for clean modular analysis.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✓  Scientific MATLAB Analytical Suite: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Combines 2D/3D natural-neighbor contour visualization with OLS path-loss regression (n, P0, σ) and multi-AP trilateration positioning fixes.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Methodology — End-to-End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99055" cy="4023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247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Phase 1: RF Measurement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ESP32 Edge Node</a:t>
            </a:r>
            <a:br/>
            <a:br/>
            <a:r>
              <a:t>• 802.11 b/g/n Beacon scan</a:t>
            </a:r>
            <a:br/>
            <a:r>
              <a:t>• Target SSID filtering</a:t>
            </a:r>
            <a:br/>
            <a:r>
              <a:t>• 10 samples per physical node</a:t>
            </a:r>
            <a:br/>
            <a:r>
              <a:t>• 5-second interval timing</a:t>
            </a:r>
            <a:br/>
            <a:r>
              <a:t>• Calibrated RSSI measurement</a:t>
            </a:r>
            <a:br/>
            <a:r>
              <a:t>• USB Serial output (115200 baud)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99055" cy="4023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2247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4D399"/>
                </a:solidFill>
              </a:defRPr>
            </a:pPr>
            <a:r>
              <a:t>Phase 2: Data Persistence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Python Logger &amp; CSV</a:t>
            </a:r>
            <a:br/>
            <a:br/>
            <a:r>
              <a:t>• Serial stream capture</a:t>
            </a:r>
            <a:br/>
            <a:r>
              <a:t>• Timestamp association (ISO)</a:t>
            </a:r>
            <a:br/>
            <a:r>
              <a:t>• Numerical sanitization</a:t>
            </a:r>
            <a:br/>
            <a:r>
              <a:t>• Cleaning -999 &amp; 'dBm' tags</a:t>
            </a:r>
            <a:br/>
            <a:r>
              <a:t>• rssi_data.csv export</a:t>
            </a:r>
            <a:br/>
            <a:r>
              <a:t>• spatial_rssi_data.csv linking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99055" cy="4023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2247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Phase 3: MATLAB Analytics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Propagation Modeling</a:t>
            </a:r>
            <a:br/>
            <a:br/>
            <a:r>
              <a:t>• Temporal statistical metrics</a:t>
            </a:r>
            <a:br/>
            <a:r>
              <a:t>• Mean μ, Std σ, Range</a:t>
            </a:r>
            <a:br/>
            <a:r>
              <a:t>• Log-distance OLS regression</a:t>
            </a:r>
            <a:br/>
            <a:r>
              <a:t>• Path loss exponent (n) fit</a:t>
            </a:r>
            <a:br/>
            <a:r>
              <a:t>• Reference power (P0 at 1m)</a:t>
            </a:r>
            <a:br/>
            <a:r>
              <a:t>• Shadow fading envelope (±1σ)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99055" cy="4023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2247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855F7"/>
                </a:solidFill>
              </a:defRPr>
            </a:pPr>
            <a:r>
              <a:t>Phase 4: Spatial Visualization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Heatmap &amp; Trilateration</a:t>
            </a:r>
            <a:br/>
            <a:br/>
            <a:r>
              <a:t>• Delaunay triangulation grid</a:t>
            </a:r>
            <a:br/>
            <a:r>
              <a:t>• Natural neighbor interpolation</a:t>
            </a:r>
            <a:br/>
            <a:r>
              <a:t>• 2D continuous contour map</a:t>
            </a:r>
            <a:br/>
            <a:r>
              <a:t>• 3D signal surface elevation</a:t>
            </a:r>
            <a:br/>
            <a:r>
              <a:t>• Coverage quality zones</a:t>
            </a:r>
            <a:br/>
            <a:r>
              <a:t>• Multi-AP trilateration 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72865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Mathematical Formulations:  [1] Log-Distance: Pr(d) = P0 - 10·n·log10(d/d0) + X_sigma   |   [2] Interpolation: f(x,y) = Σ w_j · φ(||x - x_j||)   |   [3] Trilateration: ||p - p_j|| = d_j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Work Completed — Hardware Setup &amp; Data Logging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1. Hardware Architecture &amp; Toolchain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ESP32 Dev Module Selected: Dual-core Xtensa 32-bit LX6 with integrated 802.11 b/g/n baseband radio.</a:t>
            </a:r>
            <a:br/>
            <a:r>
              <a:t>• USB Serial Link: CH340 / CP2102 UART bridge configured for stable 115200 baud transmission.</a:t>
            </a:r>
            <a:br/>
            <a:r>
              <a:t>• Development Environment: Arduino IDE 2.x configured with official espressif/arduino-esp32 core package.</a:t>
            </a:r>
            <a:br/>
            <a:r>
              <a:t>• Flashing &amp; Serial Monitor: ESP32 successfully flashed, verified non-blocking scanning loop and power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2. Firmware Implementation &amp; Timing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Wi-Fi Scanning Engine: Uses WiFi.scanNetworks(true, false) for passive non-blocking beacon listening.</a:t>
            </a:r>
            <a:br/>
            <a:r>
              <a:t>• Target SSID Filter: Programmed to isolate campus target SSID (e.g., Amrita-2.4G-B244) and report RSSI in dBm.</a:t>
            </a:r>
            <a:br/>
            <a:r>
              <a:t>• Automated 10-Reading Acquisition: Programmed to capture 10 successive samples with 5000 ms delay.</a:t>
            </a:r>
            <a:br/>
            <a:r>
              <a:t>• Serial Protocol Output: Streams clean comma-separated frames: Date_Time, Reading, ESP32_Time, SSID, RSSI_dBm.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3. Data Collection &amp; Preprocessing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Real Lab Data Collection: Completed 10-reading benchmark at physical location in Laboratory B244.</a:t>
            </a:r>
            <a:br/>
            <a:r>
              <a:t>• CSV Storage Verified: Auto-logging saved clean records to matlab/rssi_data.csv and data/real/rssi_data.csv.</a:t>
            </a:r>
            <a:br/>
            <a:r>
              <a:t>• Sanitization Module (clean_rssi_data.m): Built helper function stripping 'dBm' strings and handling NaNs.</a:t>
            </a:r>
            <a:br/>
            <a:r>
              <a:t>• MATLAB Analytical Scripts: Prepared complete modular suite (rssi_analysis.m, rssi_heatmap.m, path_loss_prediction.m).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Current Results — ESP32 RSSI Acquisition &amp; Statistical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ESP32 Real Serial Log (Amrita-2.4G-B244):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4389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1645920"/>
                <a:gridCol w="1097280"/>
              </a:tblGrid>
              <a:tr h="24938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4D399"/>
                          </a:solidFill>
                        </a:defRPr>
                      </a:pPr>
                      <a:r>
                        <a:t>Sample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4D399"/>
                          </a:solidFill>
                        </a:defRPr>
                      </a:pPr>
                      <a:r>
                        <a:t>Time (ms)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4D399"/>
                          </a:solidFill>
                        </a:defRPr>
                      </a:pPr>
                      <a:r>
                        <a:t>Target SSID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4D399"/>
                          </a:solidFill>
                        </a:defRPr>
                      </a:pPr>
                      <a:r>
                        <a:t>RSSI (dBm)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4914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-54 dBm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12912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-54 dBm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17911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-55 dBm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22911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-53 dBm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27911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-54 dBm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32911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-53 dBm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37911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-53 dBm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42711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-55 dBm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47911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-55 dBm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93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52911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Amrita-2.4G-B244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-55 dBm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937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STATISTICAL ANALYSIS SUMMARY:</a:t>
            </a:r>
            <a:br/>
            <a:r>
              <a:t>• Valid Samples (N): 10  |  Sampling Interval: 5.0 s</a:t>
            </a:r>
            <a:br/>
            <a:r>
              <a:t>• Mean RSSI: -54.10 dBm  |  Median: -54.00 dBm</a:t>
            </a:r>
            <a:br/>
            <a:r>
              <a:t>• Range: [-55, -53] dBm (Δ = 2.0 dB)  |  Std Dev (σ): 0.88 dB</a:t>
            </a:r>
            <a:br/>
            <a:r>
              <a:t>• High Stability: Small σ (0.88 dB) confirms reliable static measurement.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463040"/>
            <a:ext cx="56994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iFi_RSSI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00200"/>
            <a:ext cx="539496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Remaining Work &amp; Future Implementation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Remaining Tasks to Complete Final Review: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▶  1. Multi-Point Spatial Survey: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Deploy the ESP32 node across 16 to 25 physical grid coordinates in Laboratory B244 (2-meter spatial intervals) to create a comprehensive room dataset.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▶  2. MATLAB Continuous Heatmap Generation: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Execute rssi_heatmap.m to generate high-resolution 2D continuous contours and 3D signal surface elevation plots.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▶  3. Empirical Path Loss Parameter Extraction: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Run path_loss_prediction.m using Ordinary Least Squares (OLS) regression to extract path loss exponent (n) and shadow standard deviation (σ).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▶  4. Leave-One-Out Cross-Validation (LOOCV):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Quantify interpolation accuracy (RMSE and MAE) across Delaunay, Natural Neighbor, and RBF methods to establish model validity.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▶  5. Multi-AP Localization Validation: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 Test indoor trilateration positioning solver using 3+ campus beacons and benchmark Euclidean error in 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5081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Preview of MATLAB Heatmap &amp; Path-Loss Models:</a:t>
            </a:r>
          </a:p>
        </p:txBody>
      </p:sp>
      <p:pic>
        <p:nvPicPr>
          <p:cNvPr id="8" name="Picture 7" descr="WiFi_RSSI_Heatmap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785055" cy="38280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Project Milestones Status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Mid-Project Progress Summary: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Hardware Foundation Established: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The ESP32 edge node is fully configured, programmed, and verified as a reliable, cost-effective RSSI scanning device.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Acquisition Stability Validated: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10-sample 5-second interval measurements on network 'Amrita-2.4G-B244' demonstrated high temporal stability with standard deviation σ = 0.88 dB.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Structured Pipeline Ready: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Clean data parsing (clean_rssi_data.m) and master MATLAB scripts are prepared for immediate multi-point spatial processing.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 Project On Schedule: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 The team has met all Mid-Project Review milestones and is poised to execute room survey mapping, 2D/3D heatmap rendering, and path-loss fitting.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Project Milestones Checklist: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194560"/>
          <a:ext cx="48764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27455"/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Project Milestone /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Target Stage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Current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ESP32 Hardware &amp; IDE Setup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Mid-Review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Completed 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Beacon RSSI Firmware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Mid-Review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Completed  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10-Sample Temporal Acquisition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Mid-Review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Completed 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Serial USB Logging to 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Mid-Review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Completed  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Statistical Analysis (Mean, Std)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Mid-Review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Completed 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Spatial Room Grid Survey (16 pts)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Final Stage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9E0B"/>
                          </a:solidFill>
                        </a:defRPr>
                      </a:pPr>
                      <a:r>
                        <a:t>In Progress  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MATLAB 2D/3D RSSI Heatmap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Final 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9E0B"/>
                          </a:solidFill>
                        </a:defRPr>
                      </a:pPr>
                      <a:r>
                        <a:t>Scripts Ready 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Log-Distance Path Loss OLS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Final Stage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9E0B"/>
                          </a:solidFill>
                        </a:defRPr>
                      </a:pPr>
                      <a:r>
                        <a:t>Scripts Ready 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Indoor Trilateration Localization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Final 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Planned  ⏳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MID-PROJECT REVIEW • WIRELESS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References — IEEE Standard Citations (2023–2025)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Verified Academic Publications &amp; Documentation: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[1] M. Al-Ammal, S. Al-Sabbagh, and H. Al-Nuaimi, "Empirical Evaluation of Indoor Wi-Fi RSSI Variability and Log-Distance Path Loss in Academic Facilities," IEEE Access, vol. 12, pp. 34120–34132, 2024.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[2] Y. Zhang, H. Liu, and K. Wang, "Low-Cost ESP32 Wi-Fi Fingerprinting and Spatial Tracking Using Kalman Filtered RSSI," IEEE Transactions on Instrumentation and Measurement, vol. 73, pp. 1–11, 2024.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[3] R. Patel, K. Mehta, and S. Sharma, "Comparative Analysis of Spatial Interpolation Techniques for Indoor Radio Frequency Signal Mapping," IEEE Sensors Journal, vol. 23, no. 18, pp. 21145–21156, 2023.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[4] L. Gomez and A. Hernandez, "Automated IoT Wi-Fi Heatmap Generation and Real-Time Signal Quality Optimization," IEEE Internet of Things Journal, vol. 11, no. 9, pp. 15890–15902, 2024.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[5] J. Chen, A. Kumar, and D. Zhao, "Robust Multilateration Positioning via Multi-AP RSSI With Log-Normal Shadowing Compensation," IEEE Wireless Communications Letters, vol. 14, no. 2, pp. 412–416, 2025.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[6] Espressif Systems, "ESP32 Series Technical Reference Manual &amp; 802.11 Wi-Fi Driver Architecture," v4.8, Espressif Documentation, 2024.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[7] The MathWorks Inc., "MATLAB Scientific Computing Suite: Scattered Data Interpolation and Curve Fitting Toolbox Documentation," Natick, Massachusetts,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